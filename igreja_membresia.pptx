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56A0">
              <a:alpha val="45000"/>
            </a:srgbClr>
          </a:solidFill>
          <a:ln w="12700">
            <a:solidFill>
              <a:srgbClr val="1A56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A56A0">
              <a:alpha val="70000"/>
            </a:srgbClr>
          </a:solidFill>
          <a:ln w="12700">
            <a:solidFill>
              <a:srgbClr val="1A56A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94360"/>
            <a:ext cx="1005840" cy="100584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Igreja Membresia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Sistema Web de Gestão de Membros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B8E0"/>
                </a:solidFill>
              </a:rPr>
              <a:t>Python  ·  Flask  ·  MySQL  ·  Bootstrap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6A0">
              <a:alpha val="30000"/>
            </a:srgbClr>
          </a:solidFill>
          <a:ln w="12700">
            <a:solidFill>
              <a:srgbClr val="1A56A0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Programação para Internet — ILP951  ·  Fatec Jahu · 2026  ·  Wellington L. C. Ribeiro  &amp;  Thiago Souza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Visão Geral do Projeto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371600"/>
            <a:ext cx="731520" cy="73152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389888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app.py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Rotas, lógica de negócio, login, logout e decorator login_required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0D6E4F"/>
          </a:solidFill>
          <a:ln w="12700">
            <a:solidFill>
              <a:srgbClr val="0D6E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389888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db.py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Pool de conexões MySQL, execute_query e execute_one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371600"/>
            <a:ext cx="731520" cy="73152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89888"/>
            <a:ext cx="731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schema.sql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606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Estrutura do banco: cargos, celulas, membros, contribuicoes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23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56A0"/>
                </a:solidFill>
              </a:rPr>
              <a:t>📁  templates/  —  Páginas HTML com herança Jinja2: base_dashboard.html › membros/ · cargos/ · celulas/ · contribuicoes/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Banco de Dados — Estrutura e Relacionamentos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9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cargos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id_cargo · nome · status · descricao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0D6E4F"/>
          </a:solidFill>
          <a:ln w="12700">
            <a:solidFill>
              <a:srgbClr val="0D6E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79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celulas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1848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id_celula · nome · lider · dia_semana · horario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179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membros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1848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id_membro · nome · cpf · email · celular · estado · senha · status · cargo_id · celula_id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540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contribuicoes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49300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id_contribuicao · membro_id · tipo · valor · data_pagamento · forma_pagamento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0906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A0"/>
                </a:solidFill>
              </a:rPr>
              <a:t>Relacionamentos (FOREIGN KEY)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↳  membros.cargo_id  →  cargos.id_cargo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↳  membros.celula_id  →  celulas.id_celula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4059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↳  contribuicoes.membro_id  →  membros.id_membro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43708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 FOREIGN KEY impede cadastros inválidos e bloqueia exclusões com vínculos existentes.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db.py — Pool de Conexões MySQL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658368" cy="658368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1872" y="12801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Por que usar pool?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Abrir conexão a cada requisição é custoso. O pool mantém 5 conexões abertas e prontas.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96312"/>
            <a:ext cx="658368" cy="658368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14600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450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conn.close() ≠ fechar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27706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Devolve a conexão ao pool para reuso. Não encerra a conexão fisicamente.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29584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666744"/>
            <a:ext cx="658368" cy="658368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85032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1872" y="362102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autocommit = False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39410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Alterações só são salvas com commit() explícito. Erros disparam rollback() automático.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1188720"/>
            <a:ext cx="3474720" cy="352044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db.py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1600200"/>
            <a:ext cx="324612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8D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_pool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criar_pool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_pool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_pool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None:
    _pool = MySQLConnectionPool(
</a:t>
            </a:r>
            <a:pPr indent="0" marL="0">
              <a:buNone/>
            </a:pPr>
            <a:r>
              <a:rPr lang="en-US" sz="900" dirty="0">
                <a:solidFill>
                  <a:srgbClr val="F8D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pool_size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    **_DB_PARAMS
    )
</a:t>
            </a:r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execute_query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(sql, params, fetch):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cursor.execute(sql, params)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cursor.fetchall()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conn.commit()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Segurança de Senhas — Werkzeug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Fluxo de Cadastro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27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Usuário digita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 senha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27632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A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83080" y="150876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527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81051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generate_password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_hash(senha)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4952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A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27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181051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Hash salvo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 banco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scrypt:32768:8:1$xUaRt...9zKpW  (irreversível)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401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Fluxo de Login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785616"/>
            <a:ext cx="3931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867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check_password_hash( hash_salvo , senha_digitada )  →  True / False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Por que nunca texto puro?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28032" y="166420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6276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 o banco vazar, todas as senhas ficam expostas imediatamente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228600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2494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 hash é irreversível — nem o administrador consegue ler a senha original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90779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8712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Werkzeug usa scrypt, um algoritmo lento por design — dificulta ataques de força bruta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352958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4930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Comparação nunca é feita em texto — apenas via check_password_hash()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Autenticação — Login, Sessão e Logout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61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536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6A0"/>
                </a:solidFill>
              </a:rPr>
              <a:t>POST /login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8328" y="1883664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Recebe e-mail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 senha do 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368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A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1430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14300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161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1536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2FBE"/>
                </a:solidFill>
              </a:rPr>
              <a:t>SELECT + JOIN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1883664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Busca usuário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banco pelo e-mail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A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12464" y="11430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14300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0D6E4F"/>
          </a:solidFill>
          <a:ln w="12700">
            <a:solidFill>
              <a:srgbClr val="0D6E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161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76472" y="1536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4F"/>
                </a:solidFill>
              </a:rPr>
              <a:t>check_password_hash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776472" y="1883664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Valida senha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contra o hash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951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A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31536" y="11430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31536" y="114300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1161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95544" y="1536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status == 'Ativo'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95544" y="1883664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Verifica 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conta está ativa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58584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A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50608" y="11430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0608" y="1143000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161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14616" y="15361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8754"/>
                </a:solidFill>
              </a:rPr>
              <a:t>session['usuario']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14616" y="1883664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Salva dados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 sessão Flask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2743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56A0"/>
                </a:solidFill>
              </a:rPr>
              <a:t>O que fica salvo em session['usuario']: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10896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200400"/>
            <a:ext cx="4663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D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'usuario'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usuario[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'id_membro'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usuario[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'cargo'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usuario[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'cargo'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'iniciais'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iniciais,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'is_admin'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usuario[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'is_admin'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274320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71500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Logout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715000" y="3246120"/>
            <a:ext cx="3017520" cy="438912"/>
          </a:xfrm>
          <a:prstGeom prst="roundRect">
            <a:avLst>
              <a:gd name="adj" fmla="val 1458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3300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8D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session.clear()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15000" y="37490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Remove todos os dados da sessão e redireciona para o login.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Proteção de Rotas — Decorator login_required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4315968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login_required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D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@wraps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(*args, **kwargs):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session.get(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'usuario'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flash(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'Faça login...'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'warning'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redirect(url_for(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'login'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f(*args, **kwargs)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wrapper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# Uso nas rotas:
</a:t>
            </a:r>
            <a:pPr indent="0" marL="0">
              <a:buNone/>
            </a:pPr>
            <a:r>
              <a:rPr lang="en-US" sz="900" dirty="0">
                <a:solidFill>
                  <a:srgbClr val="F8D7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('/membros/listar')
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@login_required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membros_listar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 ...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66360" y="1097280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85232" y="1252728"/>
            <a:ext cx="621792" cy="6217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5232" y="1261872"/>
            <a:ext cx="621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98464" y="11887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 que é um decorator?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98464" y="14996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Função que envolve outra função para adicionar comportamento ANTES de executá-la.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66360" y="2267712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85232" y="2423160"/>
            <a:ext cx="621792" cy="6217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2432304"/>
            <a:ext cx="621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98464" y="23591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@wraps(f) — por quê?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98464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Preserva o nome original de cada rota. Sem ele, todas teriam o mesmo nome e causariam conflito no Flask.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3438144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3593592"/>
            <a:ext cx="621792" cy="62179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3602736"/>
            <a:ext cx="621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98464" y="352958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Sem login → redirect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98464" y="3840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session.get('usuario') retorna None se não logado. O wrapper redireciona para /login imediatamente.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SQL Injection  &amp;  Herança de Templates Jinja2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SQL Injection — Como evitamos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❌  ERRADO — concatenar diretamente: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membros WHERE email = '" + email + "'"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00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98754"/>
                </a:solidFill>
              </a:rPr>
              <a:t>✅  CORRETO — parâmetros separados: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execute_one(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'SELECT * FROM membros WHERE email = %s', (email,)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32735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O conector trata os valores como dados puros, nunca como código SQL.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8288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56A0"/>
                </a:solidFill>
              </a:rPr>
              <a:t>Herança de Templates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44475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base_dashboard.html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0" y="1773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Sidebar · Navbar · Flash messages · Scripts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2212848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2267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membros/listar.html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40680" y="2542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{% extends 'base_dashboard.html' %}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29809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56A0"/>
                </a:solidFill>
              </a:rPr>
              <a:t>{% block content %}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60720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Apenas o conteúdo único de cada página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38039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Benefício: alterar sidebar ou scripts em UM lugar atualiza TODAS as páginas.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D5A"/>
          </a:solidFill>
          <a:ln w="12700">
            <a:solidFill>
              <a:srgbClr val="0F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Funcionalidades do Sistema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307592"/>
            <a:ext cx="658368" cy="658368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25880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441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Membros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0299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CRUD completo com dados pessoais, endereço, cargo, célula, status e histórico de contribuições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14300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07592"/>
            <a:ext cx="658368" cy="65836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25880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50792" y="13441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Cargos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0299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Cadastro e gestão de cargos/funções (Pastor, Diácono, etc.) com status ativo/inativo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8192" y="1307592"/>
            <a:ext cx="658368" cy="658368"/>
          </a:xfrm>
          <a:prstGeom prst="ellipse">
            <a:avLst/>
          </a:prstGeom>
          <a:solidFill>
            <a:srgbClr val="0D6E4F"/>
          </a:solidFill>
          <a:ln w="12700">
            <a:solidFill>
              <a:srgbClr val="0D6E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325880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67144" y="13441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Células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08192" y="20299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Gestão de células com líder, dia/horário, endereço do encontro e contagem de membros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53512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118104"/>
            <a:ext cx="658368" cy="6583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36392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1546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Contribuições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84048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Registro de Dízimo, Oferta, Missões, etc. com totalizador mensal no dashboard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82112" y="2953512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18104"/>
            <a:ext cx="658368" cy="65836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36392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50792" y="31546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84048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Visão geral com contadores de membros ativos, células ativas e contribuições do mês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98464" y="2953512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08192" y="3118104"/>
            <a:ext cx="658368" cy="65836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3136392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67144" y="31546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Autenticação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08192" y="384048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Login com hash de senha, sessão Flask, proteção de rotas e admin padrão automático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56A0">
              <a:alpha val="45000"/>
            </a:srgbClr>
          </a:solidFill>
          <a:ln w="12700">
            <a:solidFill>
              <a:srgbClr val="1A56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A56A0">
              <a:alpha val="70000"/>
            </a:srgbClr>
          </a:solidFill>
          <a:ln w="12700">
            <a:solidFill>
              <a:srgbClr val="1A56A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94360"/>
            <a:ext cx="1005840" cy="100584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Obrigado!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Igreja Membresia — Sistema de Gestão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B8E0"/>
                </a:solidFill>
              </a:rPr>
              <a:t>▸  Wellington Luis Costa Ribeiro  —  Front-end &amp; UI/UX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B8E0"/>
                </a:solidFill>
              </a:rPr>
              <a:t>▸  Thiago Souza  —  Back-end &amp; Banco de Dados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56A0">
              <a:alpha val="30000"/>
            </a:srgbClr>
          </a:solidFill>
          <a:ln w="12700">
            <a:solidFill>
              <a:srgbClr val="1A56A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Programação para Internet — ILP951  ·  Fatec Jahu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Igreja Membresia — Apresentação</dc:title>
  <dc:subject>PptxGenJS Presentation</dc:subject>
  <dc:creator>PptxGenJS</dc:creator>
  <cp:lastModifiedBy>PptxGenJS</cp:lastModifiedBy>
  <cp:revision>1</cp:revision>
  <dcterms:created xsi:type="dcterms:W3CDTF">2026-06-11T05:26:06Z</dcterms:created>
  <dcterms:modified xsi:type="dcterms:W3CDTF">2026-06-11T05:26:06Z</dcterms:modified>
</cp:coreProperties>
</file>